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8324D"/>
          </a:solidFill>
          <a:ln>
            <a:solidFill>
              <a:srgbClr val="18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29260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A9CDD9"/>
                </a:solidFill>
                <a:latin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3017520" cy="1463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"/>
              </a:rPr>
              <a:t>Mira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71800"/>
            <a:ext cx="2880360" cy="1417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AI-powered project intelligence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184648"/>
            <a:ext cx="29718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CEDEE8"/>
                </a:solidFill>
                <a:latin typeface="Arial"/>
              </a:rPr>
              <a:t>Applied Agentic AI for PMs and TPMs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691640"/>
            <a:ext cx="6492240" cy="10972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8324D"/>
                </a:solidFill>
                <a:latin typeface="Arial"/>
              </a:rPr>
              <a:t>A grounded first draft for project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8032" y="2926080"/>
            <a:ext cx="6035040" cy="10515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0">
                <a:solidFill>
                  <a:srgbClr val="23303E"/>
                </a:solidFill>
                <a:latin typeface="Arial"/>
              </a:rPr>
              <a:t>Mira turns project files into plans, risk views, status reports, milestone alerts and stakeholder email drafts.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28032" y="4590288"/>
            <a:ext cx="6309360" cy="804672"/>
          </a:xfrm>
          <a:prstGeom prst="roundRect">
            <a:avLst>
              <a:gd name="adj" fmla="val 12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4690872"/>
            <a:ext cx="59436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228E87"/>
                </a:solidFill>
                <a:latin typeface="Arial"/>
              </a:rPr>
              <a:t>Prepared by Santosh Rasputra  |  24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5C6D7E"/>
                </a:solidFill>
                <a:latin typeface="Arial"/>
              </a:rPr>
              <a:t>Mira capstone  |  Submitted by Santosh Rasputra  |  24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D7E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600" b="1">
                <a:solidFill>
                  <a:srgbClr val="18324D"/>
                </a:solidFill>
                <a:latin typeface="Arial"/>
              </a:rPr>
              <a:t>The project problem and Mira’s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D7E"/>
                </a:solidFill>
                <a:latin typeface="Arial"/>
              </a:rPr>
              <a:t>The capstone uses the ABCDE Ltd. AI Adoption Project files as its sample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228E87"/>
          </a:solidFill>
          <a:ln>
            <a:solidFill>
              <a:srgbClr val="228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57800" cy="429768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900" b="1">
                <a:solidFill>
                  <a:srgbClr val="18324D"/>
                </a:solidFill>
                <a:latin typeface="Arial"/>
              </a:rPr>
              <a:t>Project manager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572000" cy="3017520"/>
          </a:xfrm>
          <a:prstGeom prst="rect">
            <a:avLst/>
          </a:prstGeom>
          <a:noFill/>
        </p:spPr>
        <p:txBody>
          <a:bodyPr wrap="square" lIns="36576" rIns="73152" tIns="27432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303E"/>
                </a:solidFill>
                <a:latin typeface="Arial"/>
              </a:defRPr>
            </a:pPr>
            <a:r>
              <a:t>•  Plans take hours to assemble from project documents.</a:t>
            </a:r>
          </a:p>
          <a:p>
            <a:pPr>
              <a:spcAft>
                <a:spcPts val="900"/>
              </a:spcAft>
              <a:defRPr sz="1500">
                <a:solidFill>
                  <a:srgbClr val="23303E"/>
                </a:solidFill>
                <a:latin typeface="Arial"/>
              </a:defRPr>
            </a:pPr>
            <a:r>
              <a:t>•  Risk assessments vary in coverage and format.</a:t>
            </a:r>
          </a:p>
          <a:p>
            <a:pPr>
              <a:spcAft>
                <a:spcPts val="900"/>
              </a:spcAft>
              <a:defRPr sz="1500">
                <a:solidFill>
                  <a:srgbClr val="23303E"/>
                </a:solidFill>
                <a:latin typeface="Arial"/>
              </a:defRPr>
            </a:pPr>
            <a:r>
              <a:t>•  Weekly status updates require manual task-board review.</a:t>
            </a:r>
          </a:p>
          <a:p>
            <a:pPr>
              <a:spcAft>
                <a:spcPts val="900"/>
              </a:spcAft>
              <a:defRPr sz="1500">
                <a:solidFill>
                  <a:srgbClr val="23303E"/>
                </a:solidFill>
                <a:latin typeface="Arial"/>
              </a:defRPr>
            </a:pPr>
            <a:r>
              <a:t>•  Blocked work and stakeholder updates can be missed or delayed.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257800" cy="4297680"/>
          </a:xfrm>
          <a:prstGeom prst="roundRect">
            <a:avLst>
              <a:gd name="adj" fmla="val 12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83080"/>
            <a:ext cx="466344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900" b="1">
                <a:solidFill>
                  <a:srgbClr val="228E87"/>
                </a:solidFill>
                <a:latin typeface="Arial"/>
              </a:rPr>
              <a:t>What Mira provides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572000" cy="3017520"/>
          </a:xfrm>
          <a:prstGeom prst="rect">
            <a:avLst/>
          </a:prstGeom>
          <a:noFill/>
        </p:spPr>
        <p:txBody>
          <a:bodyPr wrap="square" lIns="36576" rIns="73152" tIns="27432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303E"/>
                </a:solidFill>
                <a:latin typeface="Arial"/>
              </a:defRPr>
            </a:pPr>
            <a:r>
              <a:t>•  Structured plans grounded in the project description and timeline.</a:t>
            </a:r>
          </a:p>
          <a:p>
            <a:pPr>
              <a:spcAft>
                <a:spcPts val="900"/>
              </a:spcAft>
              <a:defRPr sz="1500">
                <a:solidFill>
                  <a:srgbClr val="23303E"/>
                </a:solidFill>
                <a:latin typeface="Arial"/>
              </a:defRPr>
            </a:pPr>
            <a:r>
              <a:t>•  Categorized risk assessments linked to the supplied register.</a:t>
            </a:r>
          </a:p>
          <a:p>
            <a:pPr>
              <a:spcAft>
                <a:spcPts val="900"/>
              </a:spcAft>
              <a:defRPr sz="1500">
                <a:solidFill>
                  <a:srgbClr val="23303E"/>
                </a:solidFill>
                <a:latin typeface="Arial"/>
              </a:defRPr>
            </a:pPr>
            <a:r>
              <a:t>•  Status reports, counts and health computed from the task board.</a:t>
            </a:r>
          </a:p>
          <a:p>
            <a:pPr>
              <a:spcAft>
                <a:spcPts val="900"/>
              </a:spcAft>
              <a:defRPr sz="1500">
                <a:solidFill>
                  <a:srgbClr val="23303E"/>
                </a:solidFill>
                <a:latin typeface="Arial"/>
              </a:defRPr>
            </a:pPr>
            <a:r>
              <a:t>•  Milestone alerts and sprint-isolated stakeholder drafts.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533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D7E"/>
                </a:solidFill>
                <a:latin typeface="Arial"/>
              </a:rPr>
              <a:t>Mira asks for missing details when the input is too vague and validates model text before returning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5C6D7E"/>
                </a:solidFill>
                <a:latin typeface="Arial"/>
              </a:rPr>
              <a:t>Mira capstone  |  Submitted by Santosh Rasputra  |  24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D7E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600" b="1">
                <a:solidFill>
                  <a:srgbClr val="18324D"/>
                </a:solidFill>
                <a:latin typeface="Arial"/>
              </a:rPr>
              <a:t>One routed workflow with specialist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D7E"/>
                </a:solidFill>
                <a:latin typeface="Arial"/>
              </a:rPr>
              <a:t>Code handles exact facts; agents write short narrative and suggestions.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228E87"/>
          </a:solidFill>
          <a:ln>
            <a:solidFill>
              <a:srgbClr val="228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828800"/>
            <a:ext cx="2103120" cy="109728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883663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8324D"/>
                </a:solidFill>
                <a:latin typeface="Arial"/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883663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23303E"/>
                </a:solidFill>
                <a:latin typeface="Arial"/>
              </a:rPr>
              <a:t>Chat, API, CSV, TXT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828800"/>
            <a:ext cx="2240280" cy="1097280"/>
          </a:xfrm>
          <a:prstGeom prst="roundRect">
            <a:avLst>
              <a:gd name="adj" fmla="val 12000"/>
            </a:avLst>
          </a:prstGeom>
          <a:solidFill>
            <a:srgbClr val="FFF6E4"/>
          </a:solidFill>
          <a:ln>
            <a:solidFill>
              <a:srgbClr val="FF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1938528"/>
            <a:ext cx="2020824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8324D"/>
                </a:solidFill>
                <a:latin typeface="Arial"/>
              </a:rPr>
              <a:t>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2350008"/>
            <a:ext cx="2020824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23303E"/>
                </a:solidFill>
                <a:latin typeface="Arial"/>
              </a:rPr>
              <a:t>Classify and route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25312" y="1572768"/>
            <a:ext cx="2331720" cy="786384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682495"/>
            <a:ext cx="2112263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8324D"/>
                </a:solidFill>
                <a:latin typeface="Arial"/>
              </a:rPr>
              <a:t>Planner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093976"/>
            <a:ext cx="2112263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23303E"/>
                </a:solidFill>
                <a:latin typeface="Arial"/>
              </a:rPr>
              <a:t>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25312" y="2532888"/>
            <a:ext cx="2331720" cy="786384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642616"/>
            <a:ext cx="2112263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8324D"/>
                </a:solidFill>
                <a:latin typeface="Arial"/>
              </a:rPr>
              <a:t>Risk Assessor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054096"/>
            <a:ext cx="2112263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23303E"/>
                </a:solidFill>
                <a:latin typeface="Arial"/>
              </a:rPr>
              <a:t>Risk 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25312" y="3493008"/>
            <a:ext cx="2331720" cy="786384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602736"/>
            <a:ext cx="2112263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8324D"/>
                </a:solidFill>
                <a:latin typeface="Arial"/>
              </a:rPr>
              <a:t>Status Reporter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014215"/>
            <a:ext cx="2112263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23303E"/>
                </a:solidFill>
                <a:latin typeface="Arial"/>
              </a:rPr>
              <a:t>Status + email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25312" y="4453128"/>
            <a:ext cx="2331720" cy="786384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4562856"/>
            <a:ext cx="2112263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8324D"/>
                </a:solidFill>
                <a:latin typeface="Arial"/>
              </a:rPr>
              <a:t>Milestone 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974336"/>
            <a:ext cx="2112263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23303E"/>
                </a:solidFill>
                <a:latin typeface="Arial"/>
              </a:rPr>
              <a:t>Alerts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41664" y="1828800"/>
            <a:ext cx="2697480" cy="1097280"/>
          </a:xfrm>
          <a:prstGeom prst="roundRect">
            <a:avLst>
              <a:gd name="adj" fmla="val 12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51392" y="1938528"/>
            <a:ext cx="2478024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8324D"/>
                </a:solidFill>
                <a:latin typeface="Arial"/>
              </a:rPr>
              <a:t>Validation +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2350008"/>
            <a:ext cx="2478024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23303E"/>
                </a:solidFill>
                <a:latin typeface="Arial"/>
              </a:rPr>
              <a:t>Counts, dates, IDs, health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41664" y="3703320"/>
            <a:ext cx="2697480" cy="1097280"/>
          </a:xfrm>
          <a:prstGeom prst="roundRect">
            <a:avLst>
              <a:gd name="adj" fmla="val 12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1392" y="3813048"/>
            <a:ext cx="2478024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8324D"/>
                </a:solidFill>
                <a:latin typeface="Arial"/>
              </a:rPr>
              <a:t>Outputs + trace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4224528"/>
            <a:ext cx="2478024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23303E"/>
                </a:solidFill>
                <a:latin typeface="Arial"/>
              </a:rPr>
              <a:t>Markdown and Langfuse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24912" y="2377440"/>
            <a:ext cx="475488" cy="0"/>
          </a:xfrm>
          <a:prstGeom prst="line">
            <a:avLst/>
          </a:prstGeom>
          <a:ln w="21590">
            <a:solidFill>
              <a:srgbClr val="5C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440680" y="2377440"/>
            <a:ext cx="301752" cy="0"/>
          </a:xfrm>
          <a:prstGeom prst="line">
            <a:avLst/>
          </a:prstGeom>
          <a:ln w="21590">
            <a:solidFill>
              <a:srgbClr val="5C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742432" y="1965960"/>
            <a:ext cx="182880" cy="411480"/>
          </a:xfrm>
          <a:prstGeom prst="line">
            <a:avLst/>
          </a:prstGeom>
          <a:ln w="21590">
            <a:solidFill>
              <a:srgbClr val="5C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742432" y="2377440"/>
            <a:ext cx="182880" cy="548640"/>
          </a:xfrm>
          <a:prstGeom prst="line">
            <a:avLst/>
          </a:prstGeom>
          <a:ln w="21590">
            <a:solidFill>
              <a:srgbClr val="5C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742432" y="2377440"/>
            <a:ext cx="182880" cy="1508760"/>
          </a:xfrm>
          <a:prstGeom prst="line">
            <a:avLst/>
          </a:prstGeom>
          <a:ln w="21590">
            <a:solidFill>
              <a:srgbClr val="5C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42432" y="2377440"/>
            <a:ext cx="182880" cy="2468880"/>
          </a:xfrm>
          <a:prstGeom prst="line">
            <a:avLst/>
          </a:prstGeom>
          <a:ln w="21590">
            <a:solidFill>
              <a:srgbClr val="5C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57031" y="1965960"/>
            <a:ext cx="484633" cy="411480"/>
          </a:xfrm>
          <a:prstGeom prst="line">
            <a:avLst/>
          </a:prstGeom>
          <a:ln w="21590">
            <a:solidFill>
              <a:srgbClr val="5C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257031" y="2377440"/>
            <a:ext cx="484633" cy="548640"/>
          </a:xfrm>
          <a:prstGeom prst="line">
            <a:avLst/>
          </a:prstGeom>
          <a:ln w="21590">
            <a:solidFill>
              <a:srgbClr val="5C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257031" y="2377440"/>
            <a:ext cx="484633" cy="1508760"/>
          </a:xfrm>
          <a:prstGeom prst="line">
            <a:avLst/>
          </a:prstGeom>
          <a:ln w="21590">
            <a:solidFill>
              <a:srgbClr val="5C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257031" y="2377440"/>
            <a:ext cx="484633" cy="2468880"/>
          </a:xfrm>
          <a:prstGeom prst="line">
            <a:avLst/>
          </a:prstGeom>
          <a:ln w="21590">
            <a:solidFill>
              <a:srgbClr val="5C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085832" y="2926080"/>
            <a:ext cx="0" cy="777240"/>
          </a:xfrm>
          <a:prstGeom prst="line">
            <a:avLst/>
          </a:prstGeom>
          <a:ln w="21590">
            <a:solidFill>
              <a:srgbClr val="5C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800" y="5833872"/>
            <a:ext cx="106070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D7E"/>
                </a:solidFill>
                <a:latin typeface="Arial"/>
              </a:rPr>
              <a:t>Five agents: Orchestrator, Planner, Risk Assessor, Status Reporter/Update Writer and Milestone Tracker.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5C6D7E"/>
                </a:solidFill>
                <a:latin typeface="Arial"/>
              </a:rPr>
              <a:t>Mira capstone  |  Submitted by Santosh Rasputra  |  24 October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D7E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600" b="1">
                <a:solidFill>
                  <a:srgbClr val="18324D"/>
                </a:solidFill>
                <a:latin typeface="Arial"/>
              </a:rPr>
              <a:t>Scope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D7E"/>
                </a:solidFill>
                <a:latin typeface="Arial"/>
              </a:rPr>
              <a:t>Three core capabilities and two selected extensions.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228E87"/>
          </a:solidFill>
          <a:ln>
            <a:solidFill>
              <a:srgbClr val="228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516636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828800"/>
            <a:ext cx="466344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306792"/>
                </a:solidFill>
                <a:latin typeface="Arial"/>
              </a:rPr>
              <a:t>CORE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" y="2423160"/>
            <a:ext cx="4617720" cy="86868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96312"/>
            <a:ext cx="15087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8324D"/>
                </a:solidFill>
                <a:latin typeface="Arial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2496312"/>
            <a:ext cx="274320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23303E"/>
                </a:solidFill>
                <a:latin typeface="Arial"/>
              </a:rPr>
              <a:t>Phases, milestones and information gaps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3429000"/>
            <a:ext cx="4617720" cy="86868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02152"/>
            <a:ext cx="15087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8324D"/>
                </a:solidFill>
                <a:latin typeface="Arial"/>
              </a:rP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3502152"/>
            <a:ext cx="274320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23303E"/>
                </a:solidFill>
                <a:latin typeface="Arial"/>
              </a:rPr>
              <a:t>Categorized risks and source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4434840"/>
            <a:ext cx="4617720" cy="86868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507992"/>
            <a:ext cx="15087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8324D"/>
                </a:solidFill>
                <a:latin typeface="Arial"/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4507992"/>
            <a:ext cx="274320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23303E"/>
                </a:solidFill>
                <a:latin typeface="Arial"/>
              </a:rPr>
              <a:t>Sprint and board reports, counts, health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45920"/>
            <a:ext cx="516636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228E87"/>
                </a:solidFill>
                <a:latin typeface="Arial"/>
              </a:rPr>
              <a:t>EXTENDED CAPABILITIES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423160"/>
            <a:ext cx="4617720" cy="868680"/>
          </a:xfrm>
          <a:prstGeom prst="roundRect">
            <a:avLst>
              <a:gd name="adj" fmla="val 12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1" y="2496312"/>
            <a:ext cx="15087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8324D"/>
                </a:solidFill>
                <a:latin typeface="Arial"/>
              </a:rPr>
              <a:t>Milestone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496312"/>
            <a:ext cx="274320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23303E"/>
                </a:solidFill>
                <a:latin typeface="Arial"/>
              </a:rPr>
              <a:t>Blocked, overdue and due-soon 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429000"/>
            <a:ext cx="4617720" cy="868680"/>
          </a:xfrm>
          <a:prstGeom prst="roundRect">
            <a:avLst>
              <a:gd name="adj" fmla="val 12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1" y="3502152"/>
            <a:ext cx="15087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8324D"/>
                </a:solidFill>
                <a:latin typeface="Arial"/>
              </a:rPr>
              <a:t>Stakeholder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502152"/>
            <a:ext cx="274320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23303E"/>
                </a:solidFill>
                <a:latin typeface="Arial"/>
              </a:rPr>
              <a:t>Audience-aware email drafts with sprint isolation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108192"/>
            <a:ext cx="1078992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5C6D7E"/>
                </a:solidFill>
                <a:latin typeface="Arial"/>
              </a:rPr>
              <a:t>Out of scope: external task-board writes, real email sending, fine-tuning and RAG.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5C6D7E"/>
                </a:solidFill>
                <a:latin typeface="Arial"/>
              </a:rPr>
              <a:t>Mira capstone  |  Submitted by Santosh Rasputra  |  24 October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D7E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600" b="1">
                <a:solidFill>
                  <a:srgbClr val="18324D"/>
                </a:solidFill>
                <a:latin typeface="Arial"/>
              </a:rPr>
              <a:t>Live baseline and operational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D7E"/>
                </a:solidFill>
                <a:latin typeface="Arial"/>
              </a:rPr>
              <a:t>Results from gpt-4o-mini through n8n Cloud on 18 October 2026.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228E87"/>
          </a:solidFill>
          <a:ln>
            <a:solidFill>
              <a:srgbClr val="228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2542032" cy="146304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74519"/>
            <a:ext cx="2304288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18324D"/>
                </a:solidFill>
                <a:latin typeface="Arial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87168"/>
            <a:ext cx="2267712" cy="4297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23303E"/>
                </a:solidFill>
                <a:latin typeface="Arial"/>
              </a:rPr>
              <a:t>baseline tests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1296" y="1737360"/>
            <a:ext cx="2542032" cy="146304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874519"/>
            <a:ext cx="2304288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18324D"/>
                </a:solidFill>
                <a:latin typeface="Arial"/>
              </a:rPr>
              <a:t>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2487168"/>
            <a:ext cx="2267712" cy="4297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23303E"/>
                </a:solidFill>
                <a:latin typeface="Arial"/>
              </a:rPr>
              <a:t>unique Langfuse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1737360"/>
            <a:ext cx="2542032" cy="1463040"/>
          </a:xfrm>
          <a:prstGeom prst="roundRect">
            <a:avLst>
              <a:gd name="adj" fmla="val 12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74519"/>
            <a:ext cx="2304288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18324D"/>
                </a:solidFill>
                <a:latin typeface="Arial"/>
              </a:rPr>
              <a:t>119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2487168"/>
            <a:ext cx="2267712" cy="4297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23303E"/>
                </a:solidFill>
                <a:latin typeface="Arial"/>
              </a:rPr>
              <a:t>model generations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17152" y="1737360"/>
            <a:ext cx="2542032" cy="1463040"/>
          </a:xfrm>
          <a:prstGeom prst="roundRect">
            <a:avLst>
              <a:gd name="adj" fmla="val 12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874519"/>
            <a:ext cx="2304288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18324D"/>
                </a:solidFill>
                <a:latin typeface="Arial"/>
              </a:rPr>
              <a:t>431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4312" y="2487168"/>
            <a:ext cx="2267712" cy="4297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23303E"/>
                </a:solidFill>
                <a:latin typeface="Arial"/>
              </a:rPr>
              <a:t>trace observations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11880"/>
            <a:ext cx="64008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67328"/>
            <a:ext cx="576072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18324D"/>
                </a:solidFill>
                <a:latin typeface="Arial"/>
              </a:rPr>
              <a:t>Measured cost and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5669280" cy="1143000"/>
          </a:xfrm>
          <a:prstGeom prst="rect">
            <a:avLst/>
          </a:prstGeom>
          <a:noFill/>
        </p:spPr>
        <p:txBody>
          <a:bodyPr wrap="square" lIns="36576" rIns="73152" tIns="27432" bIns="2743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303E"/>
                </a:solidFill>
                <a:latin typeface="Arial"/>
              </a:defRPr>
            </a:pPr>
            <a:r>
              <a:t>•  USD 0.0003 average cost per request; USD 0.00078 per plan.</a:t>
            </a:r>
          </a:p>
          <a:p>
            <a:pPr>
              <a:spcAft>
                <a:spcPts val="900"/>
              </a:spcAft>
              <a:defRPr sz="1300">
                <a:solidFill>
                  <a:srgbClr val="23303E"/>
                </a:solidFill>
                <a:latin typeface="Arial"/>
              </a:defRPr>
            </a:pPr>
            <a:r>
              <a:t>•  3.2 seconds average response; 10.9 seconds for the plan test.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3488" y="3611880"/>
            <a:ext cx="4224528" cy="1965960"/>
          </a:xfrm>
          <a:prstGeom prst="roundRect">
            <a:avLst>
              <a:gd name="adj" fmla="val 12000"/>
            </a:avLst>
          </a:prstGeom>
          <a:solidFill>
            <a:srgbClr val="FFF6E4"/>
          </a:solidFill>
          <a:ln>
            <a:solidFill>
              <a:srgbClr val="FF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3767328"/>
            <a:ext cx="36576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18324D"/>
                </a:solidFill>
                <a:latin typeface="Arial"/>
              </a:rPr>
              <a:t>Review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206240"/>
            <a:ext cx="3611880" cy="10515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23303E"/>
                </a:solidFill>
                <a:latin typeface="Arial"/>
              </a:rPr>
              <a:t>9 of 78 requests were marked REVIEW after a guardrail intervention. T12 passes after a false completion claim was removed.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16752"/>
            <a:ext cx="1078992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5C6D7E"/>
                </a:solidFill>
                <a:latin typeface="Arial"/>
              </a:rPr>
              <a:t>Counts and dates are computed from source data; trace and test details are in the repository.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5C6D7E"/>
                </a:solidFill>
                <a:latin typeface="Arial"/>
              </a:rPr>
              <a:t>Mira capstone  |  Submitted by Santosh Rasputra  |  24 October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D7E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600" b="1">
                <a:solidFill>
                  <a:srgbClr val="18324D"/>
                </a:solidFill>
                <a:latin typeface="Arial"/>
              </a:rPr>
              <a:t>Trace findings drove three concrete corrections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D7E"/>
                </a:solidFill>
                <a:latin typeface="Arial"/>
              </a:rPr>
              <a:t>Same baseline input was rerun after each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228E87"/>
          </a:solidFill>
          <a:ln>
            <a:solidFill>
              <a:srgbClr val="228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" y="1691640"/>
          <a:ext cx="10972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3108960"/>
                <a:gridCol w="3337560"/>
                <a:gridCol w="3566160"/>
              </a:tblGrid>
              <a:tr h="8458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</a:t>
                      </a:r>
                    </a:p>
                  </a:txBody>
                  <a:tcPr marL="109728" marR="91440" marT="73152" marB="54864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Finding</a:t>
                      </a:r>
                    </a:p>
                  </a:txBody>
                  <a:tcPr marL="109728" marR="91440" marT="73152" marB="54864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Change</a:t>
                      </a:r>
                    </a:p>
                  </a:txBody>
                  <a:tcPr marL="109728" marR="91440" marT="73152" marB="54864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Rerun</a:t>
                      </a:r>
                    </a:p>
                  </a:txBody>
                  <a:tcPr marL="109728" marR="91440" marT="73152" marB="54864" anchor="ctr">
                    <a:solidFill>
                      <a:srgbClr val="18324D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3E"/>
                          </a:solidFill>
                          <a:latin typeface="Arial"/>
                        </a:defRPr>
                      </a:pPr>
                      <a:r>
                        <a:t>T1</a:t>
                      </a:r>
                    </a:p>
                  </a:txBody>
                  <a:tcPr marL="109728" marR="91440" marT="73152" marB="54864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3E"/>
                          </a:solidFill>
                          <a:latin typeface="Arial"/>
                        </a:defRPr>
                      </a:pPr>
                      <a:r>
                        <a:t>Goal evidence quote was too strict</a:t>
                      </a:r>
                    </a:p>
                  </a:txBody>
                  <a:tcPr marL="109728" marR="91440" marT="73152" marB="54864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3E"/>
                          </a:solidFill>
                          <a:latin typeface="Arial"/>
                        </a:defRPr>
                      </a:pPr>
                      <a:r>
                        <a:t>Accept close wording; retain source check</a:t>
                      </a:r>
                    </a:p>
                  </a:txBody>
                  <a:tcPr marL="109728" marR="91440" marT="73152" marB="54864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3E"/>
                          </a:solidFill>
                          <a:latin typeface="Arial"/>
                        </a:defRPr>
                      </a:pPr>
                      <a:r>
                        <a:t>PASS, all goals and 8 phases grounded</a:t>
                      </a:r>
                    </a:p>
                  </a:txBody>
                  <a:tcPr marL="109728" marR="91440" marT="73152" marB="54864" anchor="ctr">
                    <a:solidFill>
                      <a:srgbClr val="EAF1F7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3E"/>
                          </a:solidFill>
                          <a:latin typeface="Arial"/>
                        </a:defRPr>
                      </a:pPr>
                      <a:r>
                        <a:t>T7</a:t>
                      </a:r>
                    </a:p>
                  </a:txBody>
                  <a:tcPr marL="109728" marR="91440" marT="73152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3E"/>
                          </a:solidFill>
                          <a:latin typeface="Arial"/>
                        </a:defRPr>
                      </a:pPr>
                      <a:r>
                        <a:t>Top-risk order lacked consistent board evidence</a:t>
                      </a:r>
                    </a:p>
                  </a:txBody>
                  <a:tcPr marL="109728" marR="91440" marT="73152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3E"/>
                          </a:solidFill>
                          <a:latin typeface="Arial"/>
                        </a:defRPr>
                      </a:pPr>
                      <a:r>
                        <a:t>Rank with deterministic board-link rule</a:t>
                      </a:r>
                    </a:p>
                  </a:txBody>
                  <a:tcPr marL="109728" marR="91440" marT="73152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3E"/>
                          </a:solidFill>
                          <a:latin typeface="Arial"/>
                        </a:defRPr>
                      </a:pPr>
                      <a:r>
                        <a:t>PASS, R09 / R01 / R05</a:t>
                      </a:r>
                    </a:p>
                  </a:txBody>
                  <a:tcPr marL="109728" marR="91440" marT="73152" marB="54864" anchor="ctr"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3E"/>
                          </a:solidFill>
                          <a:latin typeface="Arial"/>
                        </a:defRPr>
                      </a:pPr>
                      <a:r>
                        <a:t>T12</a:t>
                      </a:r>
                    </a:p>
                  </a:txBody>
                  <a:tcPr marL="109728" marR="91440" marT="73152" marB="54864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3E"/>
                          </a:solidFill>
                          <a:latin typeface="Arial"/>
                        </a:defRPr>
                      </a:pPr>
                      <a:r>
                        <a:t>Email claimed Sprint 2 was complete with T006 open</a:t>
                      </a:r>
                    </a:p>
                  </a:txBody>
                  <a:tcPr marL="109728" marR="91440" marT="73152" marB="54864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3E"/>
                          </a:solidFill>
                          <a:latin typeface="Arial"/>
                        </a:defRPr>
                      </a:pPr>
                      <a:r>
                        <a:t>Remove unsupported completion claim</a:t>
                      </a:r>
                    </a:p>
                  </a:txBody>
                  <a:tcPr marL="109728" marR="91440" marT="73152" marB="54864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3E"/>
                          </a:solidFill>
                          <a:latin typeface="Arial"/>
                        </a:defRPr>
                      </a:pPr>
                      <a:r>
                        <a:t>PASS; trace marked REVIEW</a:t>
                      </a:r>
                    </a:p>
                  </a:txBody>
                  <a:tcPr marL="109728" marR="91440" marT="73152" marB="54864" anchor="ctr"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40680"/>
            <a:ext cx="1078992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D7E"/>
                </a:solidFill>
                <a:latin typeface="Arial"/>
              </a:rPr>
              <a:t>Trace IDs and the failure-change-rerun detail are recorded in Mira_Design_and_Evaluation_Evidence_v1.0.docx.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5C6D7E"/>
                </a:solidFill>
                <a:latin typeface="Arial"/>
              </a:rPr>
              <a:t>Mira capstone  |  Submitted by Santosh Rasputra  |  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D7E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600" b="1">
                <a:solidFill>
                  <a:srgbClr val="18324D"/>
                </a:solidFill>
                <a:latin typeface="Arial"/>
              </a:rPr>
              <a:t>Pilot only after data and privacy controls are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5C6D7E"/>
                </a:solidFill>
                <a:latin typeface="Arial"/>
              </a:rPr>
              <a:t>Q3 charter proposes a four-week pilot with 10 PMs and TPMs.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822960" cy="50292"/>
          </a:xfrm>
          <a:prstGeom prst="rect">
            <a:avLst/>
          </a:prstGeom>
          <a:solidFill>
            <a:srgbClr val="228E87"/>
          </a:solidFill>
          <a:ln>
            <a:solidFill>
              <a:srgbClr val="228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5257800" cy="434340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solidFill>
              <a:srgbClr val="EA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56231"/>
            <a:ext cx="466344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18324D"/>
                </a:solidFill>
                <a:latin typeface="Arial"/>
              </a:rPr>
              <a:t>Pilot success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4572000" cy="3108960"/>
          </a:xfrm>
          <a:prstGeom prst="rect">
            <a:avLst/>
          </a:prstGeom>
          <a:noFill/>
        </p:spPr>
        <p:txBody>
          <a:bodyPr wrap="square" lIns="36576" rIns="73152" tIns="27432" bIns="2743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303E"/>
                </a:solidFill>
                <a:latin typeface="Arial"/>
              </a:defRPr>
            </a:pPr>
            <a:r>
              <a:t>•  12 of 12 baseline tests continue to pass after changes.</a:t>
            </a:r>
          </a:p>
          <a:p>
            <a:pPr>
              <a:spcAft>
                <a:spcPts val="900"/>
              </a:spcAft>
              <a:defRPr sz="1400">
                <a:solidFill>
                  <a:srgbClr val="23303E"/>
                </a:solidFill>
                <a:latin typeface="Arial"/>
              </a:defRPr>
            </a:pPr>
            <a:r>
              <a:t>•  No invented facts remain in an answer.</a:t>
            </a:r>
          </a:p>
          <a:p>
            <a:pPr>
              <a:spcAft>
                <a:spcPts val="900"/>
              </a:spcAft>
              <a:defRPr sz="1400">
                <a:solidFill>
                  <a:srgbClr val="23303E"/>
                </a:solidFill>
                <a:latin typeface="Arial"/>
              </a:defRPr>
            </a:pPr>
            <a:r>
              <a:t>•  7 of 10 pilot users use Mira weekly for four weeks.</a:t>
            </a:r>
          </a:p>
          <a:p>
            <a:pPr>
              <a:spcAft>
                <a:spcPts val="900"/>
              </a:spcAft>
              <a:defRPr sz="1400">
                <a:solidFill>
                  <a:srgbClr val="23303E"/>
                </a:solidFill>
                <a:latin typeface="Arial"/>
              </a:defRPr>
            </a:pPr>
            <a:r>
              <a:t>•  Cost remains below USD 1 per user per month.</a:t>
            </a:r>
          </a:p>
          <a:p>
            <a:pPr>
              <a:spcAft>
                <a:spcPts val="900"/>
              </a:spcAft>
              <a:defRPr sz="1400">
                <a:solidFill>
                  <a:srgbClr val="23303E"/>
                </a:solidFill>
                <a:latin typeface="Arial"/>
              </a:defRPr>
            </a:pPr>
            <a:r>
              <a:t>•  Weekly review of REVIEW traces and user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257800" cy="4343400"/>
          </a:xfrm>
          <a:prstGeom prst="roundRect">
            <a:avLst>
              <a:gd name="adj" fmla="val 12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56231"/>
            <a:ext cx="466344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228E87"/>
                </a:solidFill>
                <a:latin typeface="Arial"/>
              </a:rPr>
              <a:t>Before pilot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572000" cy="3108960"/>
          </a:xfrm>
          <a:prstGeom prst="rect">
            <a:avLst/>
          </a:prstGeom>
          <a:noFill/>
        </p:spPr>
        <p:txBody>
          <a:bodyPr wrap="square" lIns="36576" rIns="73152" tIns="27432" bIns="2743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303E"/>
                </a:solidFill>
                <a:latin typeface="Arial"/>
              </a:defRPr>
            </a:pPr>
            <a:r>
              <a:t>•  Choose a Langfuse region and retention period.</a:t>
            </a:r>
          </a:p>
          <a:p>
            <a:pPr>
              <a:spcAft>
                <a:spcPts val="900"/>
              </a:spcAft>
              <a:defRPr sz="1400">
                <a:solidFill>
                  <a:srgbClr val="23303E"/>
                </a:solidFill>
                <a:latin typeface="Arial"/>
              </a:defRPr>
            </a:pPr>
            <a:r>
              <a:t>•  Mask owner names in stored traces and avoid personal data in prompts.</a:t>
            </a:r>
          </a:p>
          <a:p>
            <a:pPr>
              <a:spcAft>
                <a:spcPts val="900"/>
              </a:spcAft>
              <a:defRPr sz="1400">
                <a:solidFill>
                  <a:srgbClr val="23303E"/>
                </a:solidFill>
                <a:latin typeface="Arial"/>
              </a:defRPr>
            </a:pPr>
            <a:r>
              <a:t>•  Confirm model-provider data terms with the privacy lead.</a:t>
            </a:r>
          </a:p>
          <a:p>
            <a:pPr>
              <a:spcAft>
                <a:spcPts val="900"/>
              </a:spcAft>
              <a:defRPr sz="1400">
                <a:solidFill>
                  <a:srgbClr val="23303E"/>
                </a:solidFill>
                <a:latin typeface="Arial"/>
              </a:defRPr>
            </a:pPr>
            <a:r>
              <a:t>•  Host n8n only on an approved machine or cloud.</a:t>
            </a:r>
          </a:p>
          <a:p>
            <a:pPr>
              <a:spcAft>
                <a:spcPts val="900"/>
              </a:spcAft>
              <a:defRPr sz="1400">
                <a:solidFill>
                  <a:srgbClr val="23303E"/>
                </a:solidFill>
                <a:latin typeface="Arial"/>
              </a:defRPr>
            </a:pPr>
            <a:r>
              <a:t>•  Keep PM review before sharing generated output.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5C6D7E"/>
                </a:solidFill>
                <a:latin typeface="Arial"/>
              </a:rPr>
              <a:t>Decision gate: go, change or stop after the four-week review against charter targets.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800" b="0">
                <a:solidFill>
                  <a:srgbClr val="5C6D7E"/>
                </a:solidFill>
                <a:latin typeface="Arial"/>
              </a:rPr>
              <a:t>Mira capstone  |  Submitted by Santosh Rasputra  |  24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5C6D7E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